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817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4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669280"/>
            <a:ext cx="12188952" cy="1188720"/>
          </a:xfrm>
          <a:prstGeom prst="rect">
            <a:avLst/>
          </a:prstGeom>
          <a:solidFill>
            <a:srgbClr val="014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00" b="1" i="0">
                <a:solidFill>
                  <a:srgbClr val="FFFFFF"/>
                </a:solidFill>
              </a:rPr>
              <a:t>Reporter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B0D8C0"/>
                </a:solidFill>
              </a:rPr>
              <a:t>AI 기반 C/C++ 소스코드 취약점 분석 플랫폼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49039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C6A64"/>
                </a:solidFill>
              </a:rPr>
              <a:t>Claude AI · 멀티 에이전트 파이프라인 · 자동 PDF 리포트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806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D8C0"/>
                </a:solidFill>
              </a:rPr>
              <a:t>인공지능보안응용  ·  중간 발표  ·  2025.05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5806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FFFFFF"/>
                </a:solidFill>
              </a:rPr>
              <a:t>노경민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14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E6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Reporter — 무엇을 만들었나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41413"/>
                </a:solidFill>
              </a:rPr>
              <a:t>ZIP 아카이브를 업로드하면, AI가 C/C++ 코드를 분석해 취약점을 찾고
증거와 함께 PDF 리포트로 자동 출력합니다.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2560320" cy="2651760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2560320" cy="54864"/>
          </a:xfrm>
          <a:prstGeom prst="rect">
            <a:avLst/>
          </a:prstGeom>
          <a:solidFill>
            <a:srgbClr val="014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14029"/>
                </a:solidFill>
              </a:rPr>
              <a:t>01
Extract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3"/>
                </a:solidFill>
              </a:rPr>
              <a:t>ZIP 해제
C/C++ 필터링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33832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C6A64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2286000"/>
            <a:ext cx="2560320" cy="2651760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0" y="2286000"/>
            <a:ext cx="2560320" cy="54864"/>
          </a:xfrm>
          <a:prstGeom prst="rect">
            <a:avLst/>
          </a:prstGeom>
          <a:solidFill>
            <a:srgbClr val="1A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79" y="23774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7A45"/>
                </a:solidFill>
              </a:rPr>
              <a:t>02
Triage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79" y="324612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3"/>
                </a:solidFill>
              </a:rPr>
              <a:t>위험 패턴
휴리스틱 탐지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33832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C6A64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286000"/>
            <a:ext cx="2560320" cy="2651760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286000"/>
            <a:ext cx="2560320" cy="54864"/>
          </a:xfrm>
          <a:prstGeom prst="rect">
            <a:avLst/>
          </a:prstGeom>
          <a:solidFill>
            <a:srgbClr val="E8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3774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A55A"/>
                </a:solidFill>
              </a:rPr>
              <a:t>03
Finding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24612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3"/>
                </a:solidFill>
              </a:rPr>
              <a:t>Claude AI
취약점 심층 분석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33832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C6A64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2286000"/>
            <a:ext cx="2560320" cy="2651760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2286000"/>
            <a:ext cx="2560320" cy="54864"/>
          </a:xfrm>
          <a:prstGeom prst="rect">
            <a:avLst/>
          </a:prstGeom>
          <a:solidFill>
            <a:srgbClr val="C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23774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64545"/>
                </a:solidFill>
              </a:rPr>
              <a:t>04
Verify
→ Report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324612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3"/>
                </a:solidFill>
              </a:rPr>
              <a:t>증거 검증
PDF 생성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212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6A64"/>
                </a:solidFill>
              </a:rPr>
              <a:t>FastAPI 백엔드  ·  React + Vite 프론트엔드  ·  fpdf2 PDF 엔진  ·  Anthropic Claude Sonnet 4.6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14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E6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진행 상황 요약 — 목표 대비 현재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5394960" cy="5303520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5394960" cy="54864"/>
          </a:xfrm>
          <a:prstGeom prst="rect">
            <a:avLst/>
          </a:prstGeom>
          <a:solidFill>
            <a:srgbClr val="1A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7A45"/>
                </a:solidFill>
              </a:rPr>
              <a:t>✅  완료된 기능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1413"/>
                </a:solidFill>
              </a:rPr>
              <a:t>•  멀티 에이전트 분석 파이프라인 구현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128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1413"/>
                </a:solidFill>
              </a:rPr>
              <a:t>•  Claude API 연동 (Finding Agent)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42615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1413"/>
                </a:solidFill>
              </a:rPr>
              <a:t>•  HeuristicTriageAgent — 파일당 API 1회로 최적화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7238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1413"/>
                </a:solidFill>
              </a:rPr>
              <a:t>•  EvidencePolicyVerifier — 증거 기반 결정론적 검증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0215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1413"/>
                </a:solidFill>
              </a:rPr>
              <a:t>•  Exploitability Policy (severity별 차등 기준)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319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1413"/>
                </a:solidFill>
              </a:rPr>
              <a:t>•  FastAPI 백엔드 + REST API 전체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616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1413"/>
                </a:solidFill>
              </a:rPr>
              <a:t>•  React + Vite 프론트엔드 (6개 페이지)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79145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1413"/>
                </a:solidFill>
              </a:rPr>
              <a:t>•  워밍 크림 디자인 시스템 전면 적용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22122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1413"/>
                </a:solidFill>
              </a:rPr>
              <a:t>•  PDF 리포트 자동 생성 (DejaVu 폰트)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65099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1413"/>
                </a:solidFill>
              </a:rPr>
              <a:t>•  GitHub 저장소 관리 및 문서화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143000"/>
            <a:ext cx="5394960" cy="5303520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1143000"/>
            <a:ext cx="5394960" cy="54864"/>
          </a:xfrm>
          <a:prstGeom prst="rect">
            <a:avLst/>
          </a:prstGeom>
          <a:solidFill>
            <a:srgbClr val="E8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2344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A55A"/>
                </a:solidFill>
              </a:rPr>
              <a:t>🔲  남은 과제 (5/30까지)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17830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1413"/>
                </a:solidFill>
              </a:rPr>
              <a:t>•  CVE 케이스셋 정량 평가 (Precision / Recall)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3317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1413"/>
                </a:solidFill>
              </a:rPr>
              <a:t>•  Confidence 보정 및 False Positive 분석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8803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1413"/>
                </a:solidFill>
              </a:rPr>
              <a:t>•  프론트엔드 실시간 로그 스트리밍 (SSE)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4290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1413"/>
                </a:solidFill>
              </a:rPr>
              <a:t>•  대용량 ZIP 처리 성능 최적화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97763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1413"/>
                </a:solidFill>
              </a:rPr>
              <a:t>•  최종 Demo Day 시연 준비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14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E6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시스템 아키텍처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1097280"/>
            <a:ext cx="10058400" cy="822960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1097280"/>
            <a:ext cx="64008" cy="822960"/>
          </a:xfrm>
          <a:prstGeom prst="rect">
            <a:avLst/>
          </a:prstGeom>
          <a:solidFill>
            <a:srgbClr val="014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1704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1413"/>
                </a:solidFill>
              </a:rPr>
              <a:t>사용자  /  브라우저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17043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6A64"/>
                </a:solidFill>
              </a:rPr>
              <a:t>React + Vite  |  포트 5173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965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C6A64"/>
                </a:solidFill>
              </a:rPr>
              <a:t>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377440"/>
            <a:ext cx="10058400" cy="822960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97280" y="2377440"/>
            <a:ext cx="64008" cy="822960"/>
          </a:xfrm>
          <a:prstGeom prst="rect">
            <a:avLst/>
          </a:prstGeom>
          <a:solidFill>
            <a:srgbClr val="1A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24505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1413"/>
                </a:solidFill>
              </a:rPr>
              <a:t>백엔드 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5059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6A64"/>
                </a:solidFill>
              </a:rPr>
              <a:t>FastAPI  |  포트 8000  |  /projects  /jobs  /reports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2461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C6A64"/>
                </a:solidFill>
              </a:rPr>
              <a:t>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657600"/>
            <a:ext cx="10058400" cy="822960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7280" y="3657600"/>
            <a:ext cx="64008" cy="822960"/>
          </a:xfrm>
          <a:prstGeom prst="rect">
            <a:avLst/>
          </a:prstGeom>
          <a:solidFill>
            <a:srgbClr val="E8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37307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1413"/>
                </a:solidFill>
              </a:rPr>
              <a:t>분석 파이프라인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73075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6A64"/>
                </a:solidFill>
              </a:rPr>
              <a:t>MultiAgentSourceAnalyzer  →  ClaudeClient  →  Anthropic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8463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C6A64"/>
                </a:solidFill>
              </a:rPr>
              <a:t>Vite Dev Proxy
/projects, /jobs, /health  →  localhost:8000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14029"/>
                </a:solidFill>
              </a:rPr>
              <a:t>ZIP 업로드 → 분석 Job 생성 → 파일별 파이프라인 실행 → Report 저장 → PDF 다운로드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14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E6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AI 에이전트 파이프라인 — Claude API 호출 최적화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5212080" cy="5303520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5212080" cy="54864"/>
          </a:xfrm>
          <a:prstGeom prst="rect">
            <a:avLst/>
          </a:prstGeom>
          <a:solidFill>
            <a:srgbClr val="C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64545"/>
                </a:solidFill>
              </a:rPr>
              <a:t>🔴  최적화 전  (파일당 API 3회)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4663440" cy="77724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54864" cy="777240"/>
          </a:xfrm>
          <a:prstGeom prst="rect">
            <a:avLst/>
          </a:prstGeom>
          <a:solidFill>
            <a:srgbClr val="C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892807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13"/>
                </a:solidFill>
              </a:rPr>
              <a:t>ClaudeTriageAgent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12848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6A64"/>
                </a:solidFill>
              </a:rPr>
              <a:t>API call ①  위험 패턴 판단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834640"/>
            <a:ext cx="4663440" cy="77724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834640"/>
            <a:ext cx="54864" cy="777240"/>
          </a:xfrm>
          <a:prstGeom prst="rect">
            <a:avLst/>
          </a:prstGeom>
          <a:solidFill>
            <a:srgbClr val="C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898648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13"/>
                </a:solidFill>
              </a:rPr>
              <a:t>ClaudeFindingAgent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218688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6A64"/>
                </a:solidFill>
              </a:rPr>
              <a:t>API call ②  취약점 심층 분석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840480"/>
            <a:ext cx="4663440" cy="77724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40480"/>
            <a:ext cx="54864" cy="777240"/>
          </a:xfrm>
          <a:prstGeom prst="rect">
            <a:avLst/>
          </a:prstGeom>
          <a:solidFill>
            <a:srgbClr val="C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904488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13"/>
                </a:solidFill>
              </a:rPr>
              <a:t>ClaudeSkepticVerifier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224528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6A64"/>
                </a:solidFill>
              </a:rPr>
              <a:t>API call ③  증거 재검증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846320"/>
            <a:ext cx="4663440" cy="77724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846320"/>
            <a:ext cx="54864" cy="777240"/>
          </a:xfrm>
          <a:prstGeom prst="rect">
            <a:avLst/>
          </a:prstGeom>
          <a:solidFill>
            <a:srgbClr val="6C6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10328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13"/>
                </a:solidFill>
              </a:rPr>
              <a:t>SourceReporterAgent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230368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6A64"/>
                </a:solidFill>
              </a:rPr>
              <a:t>리포트 조립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143000"/>
            <a:ext cx="5303520" cy="5303520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1143000"/>
            <a:ext cx="5303520" cy="54864"/>
          </a:xfrm>
          <a:prstGeom prst="rect">
            <a:avLst/>
          </a:prstGeom>
          <a:solidFill>
            <a:srgbClr val="1A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12344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A45"/>
                </a:solidFill>
              </a:rPr>
              <a:t>✅  최적화 후  (파일당 API 1회)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1828800"/>
            <a:ext cx="4846320" cy="77724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0" y="1828800"/>
            <a:ext cx="54864" cy="777240"/>
          </a:xfrm>
          <a:prstGeom prst="rect">
            <a:avLst/>
          </a:prstGeom>
          <a:solidFill>
            <a:srgbClr val="1A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12280" y="1892807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13"/>
                </a:solidFill>
              </a:rPr>
              <a:t>HeuristicTriageAgent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2212848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6A64"/>
                </a:solidFill>
              </a:rPr>
              <a:t>정규식 기반 · API 없음 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2834640"/>
            <a:ext cx="4846320" cy="77724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0" y="2834640"/>
            <a:ext cx="54864" cy="777240"/>
          </a:xfrm>
          <a:prstGeom prst="rect">
            <a:avLst/>
          </a:prstGeom>
          <a:solidFill>
            <a:srgbClr val="E8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12280" y="2898648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13"/>
                </a:solidFill>
              </a:rPr>
              <a:t>ClaudeFindingAgent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3218688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6A64"/>
                </a:solidFill>
              </a:rPr>
              <a:t>API call ①  취약점 심층 분석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0" y="3840480"/>
            <a:ext cx="4846320" cy="77724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0" y="3840480"/>
            <a:ext cx="54864" cy="777240"/>
          </a:xfrm>
          <a:prstGeom prst="rect">
            <a:avLst/>
          </a:prstGeom>
          <a:solidFill>
            <a:srgbClr val="1A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12280" y="3904488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13"/>
                </a:solidFill>
              </a:rPr>
              <a:t>EvidencePolicyVerifier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4224528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6A64"/>
                </a:solidFill>
              </a:rPr>
              <a:t>결정론적 검증 · API 없음 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0" y="4846320"/>
            <a:ext cx="4846320" cy="77724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83680" y="4846320"/>
            <a:ext cx="54864" cy="777240"/>
          </a:xfrm>
          <a:prstGeom prst="rect">
            <a:avLst/>
          </a:prstGeom>
          <a:solidFill>
            <a:srgbClr val="6C6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12280" y="4910328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13"/>
                </a:solidFill>
              </a:rPr>
              <a:t>SourceReporterAgent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5230368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6A64"/>
                </a:solidFill>
              </a:rPr>
              <a:t>리포트 조립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6072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14029"/>
                </a:solidFill>
              </a:rPr>
              <a:t>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77840" y="40233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7A45"/>
                </a:solidFill>
              </a:rPr>
              <a:t>비용 66% 절감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14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E6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EvidencePolicyVerifier — 증거 기반 취약점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41413"/>
                </a:solidFill>
              </a:rPr>
              <a:t>Claude가 생성한 finding을 LLM 없이 결정론적 규칙으로 검증합니다.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486400" cy="3200400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0" cy="54864"/>
          </a:xfrm>
          <a:prstGeom prst="rect">
            <a:avLst/>
          </a:prstGeom>
          <a:solidFill>
            <a:srgbClr val="014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2763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14029"/>
                </a:solidFill>
              </a:rPr>
              <a:t>기본 체크 (모든 severity)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1413"/>
                </a:solidFill>
              </a:rPr>
              <a:t>✓  evidence_quote 존재 여부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1413"/>
                </a:solidFill>
              </a:rPr>
              <a:t>✓  evidence 소스 내 실제 존재 (Grounding)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1413"/>
                </a:solidFill>
              </a:rPr>
              <a:t>✓  root_cause / remediation 필드 존재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4903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1413"/>
                </a:solidFill>
              </a:rPr>
              <a:t>✓  line_start 소스 라인 범위 이내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846320"/>
            <a:ext cx="5486400" cy="1737360"/>
          </a:xfrm>
          <a:prstGeom prst="rect">
            <a:avLst/>
          </a:prstGeom>
          <a:solidFill>
            <a:srgbClr val="1817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91947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D8C0"/>
                </a:solidFill>
              </a:rPr>
              <a:t>Evidence Grounding 알고리즘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492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① '...' / '…' 기준으로 fragment 분리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9671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② 각 fragment (≥8자)가 소스에 있으면 통과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044183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③ 12자 sliding window 매칭으로 폴백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554480"/>
            <a:ext cx="5303520" cy="5029200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1554480"/>
            <a:ext cx="5303520" cy="54864"/>
          </a:xfrm>
          <a:prstGeom prst="rect">
            <a:avLst/>
          </a:prstGeom>
          <a:solidFill>
            <a:srgbClr val="C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6276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64545"/>
                </a:solidFill>
              </a:rPr>
              <a:t>Exploitability Policy (severity별)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1031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C6A64"/>
                </a:solidFill>
              </a:rPr>
              <a:t>Severity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21031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C6A64"/>
                </a:solidFill>
              </a:rPr>
              <a:t>Confidence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21031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C6A64"/>
                </a:solidFill>
              </a:rPr>
              <a:t>Verdict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21031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C6A64"/>
                </a:solidFill>
              </a:rPr>
              <a:t>증거 요건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2514600"/>
            <a:ext cx="5029200" cy="566928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92240" y="2514600"/>
            <a:ext cx="54864" cy="566928"/>
          </a:xfrm>
          <a:prstGeom prst="rect">
            <a:avLst/>
          </a:prstGeom>
          <a:solidFill>
            <a:srgbClr val="C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2651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64545"/>
                </a:solidFill>
              </a:rPr>
              <a:t>CRITICAL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26517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3"/>
                </a:solidFill>
              </a:rPr>
              <a:t>≥ 70%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400" y="2651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3"/>
                </a:solidFill>
              </a:rPr>
              <a:t>VULNERABLE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2680" y="26517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A64"/>
                </a:solidFill>
              </a:rPr>
              <a:t>dangerous op 필수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3200400"/>
            <a:ext cx="5029200" cy="566928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92240" y="3200400"/>
            <a:ext cx="54864" cy="566928"/>
          </a:xfrm>
          <a:prstGeom prst="rect">
            <a:avLst/>
          </a:prstGeom>
          <a:solidFill>
            <a:srgbClr val="E8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33375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A55A"/>
                </a:solidFill>
              </a:rPr>
              <a:t>HIGH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20" y="33375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3"/>
                </a:solidFill>
              </a:rPr>
              <a:t>≥ 60%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400" y="33375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3"/>
                </a:solidFill>
              </a:rPr>
              <a:t>VULNERABLE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12680" y="33375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A64"/>
                </a:solidFill>
              </a:rPr>
              <a:t>dangerous op 필수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3886200"/>
            <a:ext cx="5029200" cy="566928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92240" y="3886200"/>
            <a:ext cx="54864" cy="56692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29400" y="40233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017"/>
                </a:solidFill>
              </a:rPr>
              <a:t>MEDIUM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18120" y="40233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3"/>
                </a:solidFill>
              </a:rPr>
              <a:t>≥ 50%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15400" y="40233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3"/>
                </a:solidFill>
              </a:rPr>
              <a:t>VULNERABLE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12680" y="4023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A64"/>
                </a:solidFill>
              </a:rPr>
              <a:t>일반 기준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92240" y="4572000"/>
            <a:ext cx="5029200" cy="566928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92240" y="4572000"/>
            <a:ext cx="54864" cy="566928"/>
          </a:xfrm>
          <a:prstGeom prst="rect">
            <a:avLst/>
          </a:prstGeom>
          <a:solidFill>
            <a:srgbClr val="5D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29400" y="47091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DB8A6"/>
                </a:solidFill>
              </a:rPr>
              <a:t>LOW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18120" y="47091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3"/>
                </a:solidFill>
              </a:rPr>
              <a:t>≥ 40%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15400" y="47091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3"/>
                </a:solidFill>
              </a:rPr>
              <a:t>VUL / REVIEW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12680" y="4709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A64"/>
                </a:solidFill>
              </a:rPr>
              <a:t>일반 기준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6035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6A64"/>
                </a:solidFill>
              </a:rPr>
              <a:t>* dangerous op: gets, strcpy, sprintf, memcpy, malloc(산술), scanf...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14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E6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프론트엔드 — 디자인 시스템 &amp; 주요 페이지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566160" cy="2194560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3566160" cy="54864"/>
          </a:xfrm>
          <a:prstGeom prst="rect">
            <a:avLst/>
          </a:prstGeom>
          <a:solidFill>
            <a:srgbClr val="014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8988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14029"/>
                </a:solidFill>
              </a:rPr>
              <a:t>HeroPage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47088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3"/>
                </a:solidFill>
              </a:rPr>
              <a:t>분할 레이아웃
터미널 목업 / 파이프라인 소개 / CTA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280160"/>
            <a:ext cx="3566160" cy="2194560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280160"/>
            <a:ext cx="3566160" cy="54864"/>
          </a:xfrm>
          <a:prstGeom prst="rect">
            <a:avLst/>
          </a:prstGeom>
          <a:solidFill>
            <a:srgbClr val="014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38988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14029"/>
                </a:solidFill>
              </a:rPr>
              <a:t>ProjectsPage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847088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3"/>
                </a:solidFill>
              </a:rPr>
              <a:t>프로젝트 목록
생성 / 삭제 / 분석 현황 확인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280160"/>
            <a:ext cx="3566160" cy="2194560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280160"/>
            <a:ext cx="3566160" cy="54864"/>
          </a:xfrm>
          <a:prstGeom prst="rect">
            <a:avLst/>
          </a:prstGeom>
          <a:solidFill>
            <a:srgbClr val="014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38988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14029"/>
                </a:solidFill>
              </a:rPr>
              <a:t>ProjectDetailPage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847088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3"/>
                </a:solidFill>
              </a:rPr>
              <a:t>ZIP 업로드
분석 시작 / 리포트 히스토리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0479"/>
            <a:ext cx="3566160" cy="2194560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840479"/>
            <a:ext cx="3566160" cy="54864"/>
          </a:xfrm>
          <a:prstGeom prst="rect">
            <a:avLst/>
          </a:prstGeom>
          <a:solidFill>
            <a:srgbClr val="014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950207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14029"/>
                </a:solidFill>
              </a:rPr>
              <a:t>ProgressPage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407407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3"/>
                </a:solidFill>
              </a:rPr>
              <a:t>실시간 진행 현황
5단계 스텝 + 로그 패널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3840479"/>
            <a:ext cx="3566160" cy="2194560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3840479"/>
            <a:ext cx="3566160" cy="54864"/>
          </a:xfrm>
          <a:prstGeom prst="rect">
            <a:avLst/>
          </a:prstGeom>
          <a:solidFill>
            <a:srgbClr val="014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3950207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14029"/>
                </a:solidFill>
              </a:rPr>
              <a:t>ReportPage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407407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3"/>
                </a:solidFill>
              </a:rPr>
              <a:t>분석 결과 뷰어
Finding 카드 / severity 분류 / PDF 다운로드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989320"/>
            <a:ext cx="11247120" cy="640080"/>
          </a:xfrm>
          <a:prstGeom prst="rect">
            <a:avLst/>
          </a:prstGeom>
          <a:solidFill>
            <a:srgbClr val="1817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6080760"/>
            <a:ext cx="256032" cy="256032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608076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Canvas  #faf9f5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60320" y="6080760"/>
            <a:ext cx="256032" cy="256032"/>
          </a:xfrm>
          <a:prstGeom prst="rect">
            <a:avLst/>
          </a:prstGeom>
          <a:solidFill>
            <a:srgbClr val="014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80360" y="608076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Primary  #014029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6080760"/>
            <a:ext cx="256032" cy="256032"/>
          </a:xfrm>
          <a:prstGeom prst="rect">
            <a:avLst/>
          </a:prstGeom>
          <a:solidFill>
            <a:srgbClr val="C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9159" y="608076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Error  #c64545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6080760"/>
            <a:ext cx="256032" cy="256032"/>
          </a:xfrm>
          <a:prstGeom prst="rect">
            <a:avLst/>
          </a:prstGeom>
          <a:solidFill>
            <a:srgbClr val="E8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59" y="608076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Amber  #e8a55a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6080760"/>
            <a:ext cx="256032" cy="25603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66760" y="608076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Warning  #d4a017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75520" y="6080760"/>
            <a:ext cx="256032" cy="256032"/>
          </a:xfrm>
          <a:prstGeom prst="rect">
            <a:avLst/>
          </a:prstGeom>
          <a:solidFill>
            <a:srgbClr val="5D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95560" y="608076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Teal  #5db8a6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14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E6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PDF 리포트 — 자동 생성 출력물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438912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389120" cy="54864"/>
          </a:xfrm>
          <a:prstGeom prst="rect">
            <a:avLst/>
          </a:prstGeom>
          <a:solidFill>
            <a:srgbClr val="E6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4206240" cy="777240"/>
          </a:xfrm>
          <a:prstGeom prst="rect">
            <a:avLst/>
          </a:prstGeom>
          <a:solidFill>
            <a:srgbClr val="014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258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Reporter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642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D8C0"/>
                </a:solidFill>
              </a:rPr>
              <a:t>Security Analysis Report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389888"/>
            <a:ext cx="1005840" cy="274320"/>
          </a:xfrm>
          <a:prstGeom prst="rect">
            <a:avLst/>
          </a:prstGeom>
          <a:solidFill>
            <a:srgbClr val="1A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38988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14884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41413"/>
                </a:solidFill>
              </a:rPr>
              <a:t>Archive: openssl_1.0.2.zip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42316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41413"/>
                </a:solidFill>
              </a:rPr>
              <a:t>Files analyzed: 20 / 312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69748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41413"/>
                </a:solidFill>
              </a:rPr>
              <a:t>Accepted: 21  Rejected: 19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063240"/>
            <a:ext cx="914400" cy="548640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063240"/>
            <a:ext cx="914400" cy="45720"/>
          </a:xfrm>
          <a:prstGeom prst="rect">
            <a:avLst/>
          </a:prstGeom>
          <a:solidFill>
            <a:srgbClr val="014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1272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14029"/>
                </a:solidFill>
              </a:rP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40156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C6A64"/>
                </a:solidFill>
              </a:rPr>
              <a:t>FILES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3063240"/>
            <a:ext cx="914400" cy="548640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600200" y="3063240"/>
            <a:ext cx="914400" cy="45720"/>
          </a:xfrm>
          <a:prstGeom prst="rect">
            <a:avLst/>
          </a:prstGeom>
          <a:solidFill>
            <a:srgbClr val="1A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00200" y="31272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7A45"/>
                </a:solidFill>
              </a:rPr>
              <a:t>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340156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C6A64"/>
                </a:solidFill>
              </a:rPr>
              <a:t>ACCEPTED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06040" y="3063240"/>
            <a:ext cx="914400" cy="548640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06040" y="3063240"/>
            <a:ext cx="914400" cy="45720"/>
          </a:xfrm>
          <a:prstGeom prst="rect">
            <a:avLst/>
          </a:prstGeom>
          <a:solidFill>
            <a:srgbClr val="C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06040" y="31272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64545"/>
                </a:solidFill>
              </a:rPr>
              <a:t>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06040" y="340156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C6A64"/>
                </a:solidFill>
              </a:rPr>
              <a:t>REJECTED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11880" y="3063240"/>
            <a:ext cx="914400" cy="548640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11880" y="3063240"/>
            <a:ext cx="914400" cy="45720"/>
          </a:xfrm>
          <a:prstGeom prst="rect">
            <a:avLst/>
          </a:prstGeom>
          <a:solidFill>
            <a:srgbClr val="6C6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11880" y="31272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C6A64"/>
                </a:solidFill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11880" y="340156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C6A64"/>
                </a:solidFill>
              </a:rPr>
              <a:t>SKIPPED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3749039"/>
            <a:ext cx="4114800" cy="54864"/>
          </a:xfrm>
          <a:prstGeom prst="rect">
            <a:avLst/>
          </a:prstGeom>
          <a:solidFill>
            <a:srgbClr val="C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4360" y="3803904"/>
            <a:ext cx="4114800" cy="1051560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38404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41413"/>
                </a:solidFill>
              </a:rPr>
              <a:t>buffer overflow in SSL_write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16052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64545"/>
                </a:solidFill>
              </a:rPr>
              <a:t>CRITICAL  ·  L112  ·  94% confidence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480560"/>
            <a:ext cx="3931920" cy="320040"/>
          </a:xfrm>
          <a:prstGeom prst="rect">
            <a:avLst/>
          </a:prstGeom>
          <a:solidFill>
            <a:srgbClr val="1817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4498848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B0D8C0"/>
                </a:solidFill>
              </a:rPr>
              <a:t>  strcpy(buf, user_data);  // no check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0" y="1234440"/>
            <a:ext cx="6217920" cy="1188720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0" y="1234440"/>
            <a:ext cx="6217920" cy="54864"/>
          </a:xfrm>
          <a:prstGeom prst="rect">
            <a:avLst/>
          </a:prstGeom>
          <a:solidFill>
            <a:srgbClr val="014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0" y="132588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1413"/>
                </a:solidFill>
              </a:rPr>
              <a:t>🎨  디자인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0" y="1737360"/>
            <a:ext cx="5852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6A64"/>
                </a:solidFill>
              </a:rPr>
              <a:t>웹 UI와 동일한 크림/다크그린 팔레트
DejaVu Sans/Serif/Mono 폰트 임베딩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0" y="2606040"/>
            <a:ext cx="6217920" cy="1188720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86400" y="2606040"/>
            <a:ext cx="6217920" cy="54864"/>
          </a:xfrm>
          <a:prstGeom prst="rect">
            <a:avLst/>
          </a:prstGeom>
          <a:solidFill>
            <a:srgbClr val="014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69280" y="269748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1413"/>
                </a:solidFill>
              </a:rPr>
              <a:t>📋  구조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3108960"/>
            <a:ext cx="5852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6A64"/>
                </a:solidFill>
              </a:rPr>
              <a:t>헤더 → 메타 → 요약 → 통계 4칸
→ 파일별 finding 노트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0" y="3977639"/>
            <a:ext cx="6217920" cy="1188720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486400" y="3977639"/>
            <a:ext cx="6217920" cy="54864"/>
          </a:xfrm>
          <a:prstGeom prst="rect">
            <a:avLst/>
          </a:prstGeom>
          <a:solidFill>
            <a:srgbClr val="014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69280" y="4069079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1413"/>
                </a:solidFill>
              </a:rPr>
              <a:t>💻  코드 블록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0" y="4480559"/>
            <a:ext cx="5852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6A64"/>
                </a:solidFill>
              </a:rPr>
              <a:t>evidence_quote를 별도 코드 박스
severity 색상 left stripe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0" y="5349240"/>
            <a:ext cx="6217920" cy="1188720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486400" y="5349240"/>
            <a:ext cx="6217920" cy="54864"/>
          </a:xfrm>
          <a:prstGeom prst="rect">
            <a:avLst/>
          </a:prstGeom>
          <a:solidFill>
            <a:srgbClr val="014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69280" y="5440679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1413"/>
                </a:solidFill>
              </a:rPr>
              <a:t>↓  자동 생성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0" y="5852159"/>
            <a:ext cx="5852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6A64"/>
                </a:solidFill>
              </a:rPr>
              <a:t>분석 완료 시 report.pdf 즉시 생성
브라우저에서 직접 다운로드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14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E6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AI 도구 활용 — Claude Code를 팀원처럼 매니징하기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41413"/>
                </a:solidFill>
              </a:rPr>
              <a:t>단순 자동완성이 아닌 '시니어 개발자 + AI'의 협업 구조로 프로젝트를 진행했습니다.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3566160" cy="2011680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64008" cy="2011680"/>
          </a:xfrm>
          <a:prstGeom prst="rect">
            <a:avLst/>
          </a:prstGeom>
          <a:solidFill>
            <a:srgbClr val="014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13"/>
                </a:solidFill>
              </a:rPr>
              <a:t>아키텍처 설계 지시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30552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A64"/>
                </a:solidFill>
              </a:rPr>
              <a:t>"파일당 Claude API 3회 → 1회로 줄이고 싶다."
→ Triage/Verify를 heuristic으로 교체하는 설계 제안 + 구현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600200"/>
            <a:ext cx="3566160" cy="2011680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00200"/>
            <a:ext cx="64008" cy="2011680"/>
          </a:xfrm>
          <a:prstGeom prst="rect">
            <a:avLst/>
          </a:prstGeom>
          <a:solidFill>
            <a:srgbClr val="E8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13"/>
                </a:solidFill>
              </a:rPr>
              <a:t>정책 결정 후 구현 위임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130552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A64"/>
                </a:solidFill>
              </a:rPr>
              <a:t>"Accepted 기준이 느슨하다. 실제 exploit 가능성을 더 봐야한다."
→ severity별 confidence 임계값 + dangerous op 체크 설계 + 코드 작성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600200"/>
            <a:ext cx="3566160" cy="2011680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600200"/>
            <a:ext cx="64008" cy="2011680"/>
          </a:xfrm>
          <a:prstGeom prst="rect">
            <a:avLst/>
          </a:prstGeom>
          <a:solidFill>
            <a:srgbClr val="1A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13"/>
                </a:solidFill>
              </a:rPr>
              <a:t>디자인 시스템 방향 제시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130552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A64"/>
                </a:solidFill>
              </a:rPr>
              <a:t>"디자인을 design.md처럼 Anthropic 스타일로 바꿔줘."
→ CSS 토큰, 컴포넌트, 레이아웃 전면 재작성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886200"/>
            <a:ext cx="3566160" cy="2011680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886200"/>
            <a:ext cx="64008" cy="2011680"/>
          </a:xfrm>
          <a:prstGeom prst="rect">
            <a:avLst/>
          </a:prstGeom>
          <a:solidFill>
            <a:srgbClr val="5D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9776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13"/>
                </a:solidFill>
              </a:rPr>
              <a:t>버그 진단 및 수정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416552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A64"/>
                </a:solidFill>
              </a:rPr>
              <a:t>"evidence가 소스에 있는데 reject된다."
→ grounding 알고리즘 분석 후 ellipsis 분리 + sliding window 방식으로 개선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3886200"/>
            <a:ext cx="3566160" cy="2011680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43400" y="3886200"/>
            <a:ext cx="64008" cy="2011680"/>
          </a:xfrm>
          <a:prstGeom prst="rect">
            <a:avLst/>
          </a:prstGeom>
          <a:solidFill>
            <a:srgbClr val="6C6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39776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13"/>
                </a:solidFill>
              </a:rPr>
              <a:t>문서화 자동화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4416552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A64"/>
                </a:solidFill>
              </a:rPr>
              <a:t>"지금까지 한 걸 가지고 docs에 md 만들어줘, README도."
→ 구현 기록 + 아키텍처 문서 자동 생성 후 git push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14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E6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Git 활용 — 커밋 히스토리 &amp; 버전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6A64"/>
                </a:solidFill>
              </a:rPr>
              <a:t>github.com/rohkyoungmin/AISECApp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1247120" cy="384048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54864" cy="384048"/>
          </a:xfrm>
          <a:prstGeom prst="rect">
            <a:avLst/>
          </a:prstGeom>
          <a:solidFill>
            <a:srgbClr val="6C6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7276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6A64"/>
                </a:solidFill>
              </a:rPr>
              <a:t>c71083e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57276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3"/>
                </a:solidFill>
              </a:rPr>
              <a:t>Add README and implementation docs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15727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C6A64"/>
                </a:solidFill>
              </a:rPr>
              <a:t>2025-05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38528"/>
            <a:ext cx="11247120" cy="384048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938528"/>
            <a:ext cx="54864" cy="384048"/>
          </a:xfrm>
          <a:prstGeom prst="rect">
            <a:avLst/>
          </a:prstGeom>
          <a:solidFill>
            <a:srgbClr val="014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00253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6A64"/>
                </a:solidFill>
              </a:rPr>
              <a:t>0aa6327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002536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3"/>
                </a:solidFill>
              </a:rPr>
              <a:t>Redesign UI, tighten verifier, improve PDF export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200253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C6A64"/>
                </a:solidFill>
              </a:rPr>
              <a:t>2025-05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368296"/>
            <a:ext cx="11247120" cy="384048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368296"/>
            <a:ext cx="54864" cy="384048"/>
          </a:xfrm>
          <a:prstGeom prst="rect">
            <a:avLst/>
          </a:prstGeom>
          <a:solidFill>
            <a:srgbClr val="014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432303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6A64"/>
                </a:solidFill>
              </a:rPr>
              <a:t>f931630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2432303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3"/>
                </a:solidFill>
              </a:rPr>
              <a:t>Add frontend project workflow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2432303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C6A64"/>
                </a:solidFill>
              </a:rPr>
              <a:t>2025-05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798063"/>
            <a:ext cx="11247120" cy="384048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2798063"/>
            <a:ext cx="54864" cy="384048"/>
          </a:xfrm>
          <a:prstGeom prst="rect">
            <a:avLst/>
          </a:prstGeom>
          <a:solidFill>
            <a:srgbClr val="1A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862071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6A64"/>
                </a:solidFill>
              </a:rPr>
              <a:t>27ab8cd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2862071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3"/>
                </a:solidFill>
              </a:rPr>
              <a:t>Update default Claude 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2862071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C6A64"/>
                </a:solidFill>
              </a:rPr>
              <a:t>2025-05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227832"/>
            <a:ext cx="11247120" cy="384048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227832"/>
            <a:ext cx="54864" cy="384048"/>
          </a:xfrm>
          <a:prstGeom prst="rect">
            <a:avLst/>
          </a:prstGeom>
          <a:solidFill>
            <a:srgbClr val="1A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29183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6A64"/>
                </a:solidFill>
              </a:rPr>
              <a:t>4a4d624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3291839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3"/>
                </a:solidFill>
              </a:rPr>
              <a:t>Fix editable LLM install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329183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C6A64"/>
                </a:solidFill>
              </a:rPr>
              <a:t>2025-04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657599"/>
            <a:ext cx="11247120" cy="384048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3657599"/>
            <a:ext cx="54864" cy="384048"/>
          </a:xfrm>
          <a:prstGeom prst="rect">
            <a:avLst/>
          </a:prstGeom>
          <a:solidFill>
            <a:srgbClr val="E8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721607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6A64"/>
                </a:solidFill>
              </a:rPr>
              <a:t>e875b22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91640" y="3721607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3"/>
                </a:solidFill>
              </a:rPr>
              <a:t>Use input directory for ZIP experiments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372160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C6A64"/>
                </a:solidFill>
              </a:rPr>
              <a:t>2025-04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087368"/>
            <a:ext cx="11247120" cy="384048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4087368"/>
            <a:ext cx="54864" cy="384048"/>
          </a:xfrm>
          <a:prstGeom prst="rect">
            <a:avLst/>
          </a:prstGeom>
          <a:solidFill>
            <a:srgbClr val="E8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15137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6A64"/>
                </a:solidFill>
              </a:rPr>
              <a:t>d1ec886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91640" y="4151376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3"/>
                </a:solidFill>
              </a:rPr>
              <a:t>Add experiment report exports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415137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C6A64"/>
                </a:solidFill>
              </a:rPr>
              <a:t>2025-04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517136"/>
            <a:ext cx="11247120" cy="384048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4517136"/>
            <a:ext cx="54864" cy="384048"/>
          </a:xfrm>
          <a:prstGeom prst="rect">
            <a:avLst/>
          </a:prstGeom>
          <a:solidFill>
            <a:srgbClr val="E8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58114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6A64"/>
                </a:solidFill>
              </a:rPr>
              <a:t>f95c778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91640" y="4581144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3"/>
                </a:solidFill>
              </a:rPr>
              <a:t>Refactor source analysis into multi-agent pipeline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45811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C6A64"/>
                </a:solidFill>
              </a:rPr>
              <a:t>2025-04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946904"/>
            <a:ext cx="11247120" cy="384048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" y="4946904"/>
            <a:ext cx="54864" cy="384048"/>
          </a:xfrm>
          <a:prstGeom prst="rect">
            <a:avLst/>
          </a:prstGeom>
          <a:solidFill>
            <a:srgbClr val="5D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501091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6A64"/>
                </a:solidFill>
              </a:rPr>
              <a:t>4561353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91640" y="501091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3"/>
                </a:solidFill>
              </a:rPr>
              <a:t>Add ZIP source analysis backend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0" y="50109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C6A64"/>
                </a:solidFill>
              </a:rPr>
              <a:t>2025-04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5376671"/>
            <a:ext cx="11247120" cy="384048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7200" y="5376671"/>
            <a:ext cx="54864" cy="384048"/>
          </a:xfrm>
          <a:prstGeom prst="rect">
            <a:avLst/>
          </a:prstGeom>
          <a:solidFill>
            <a:srgbClr val="5D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544067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6A64"/>
                </a:solidFill>
              </a:rPr>
              <a:t>2f0ea2f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91640" y="5440679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3"/>
                </a:solidFill>
              </a:rPr>
              <a:t>Add Claude source analysis report scaffold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15600" y="544067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C6A64"/>
                </a:solidFill>
              </a:rPr>
              <a:t>2025-04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5806440"/>
            <a:ext cx="11247120" cy="384048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57200" y="5806440"/>
            <a:ext cx="54864" cy="384048"/>
          </a:xfrm>
          <a:prstGeom prst="rect">
            <a:avLst/>
          </a:prstGeom>
          <a:solidFill>
            <a:srgbClr val="6C6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" y="58704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6A64"/>
                </a:solidFill>
              </a:rPr>
              <a:t>0251ab7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91640" y="58704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3"/>
                </a:solidFill>
              </a:rPr>
              <a:t>Import Magma patch case skeletons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0" y="58704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C6A64"/>
                </a:solidFill>
              </a:rPr>
              <a:t>2025-03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6236208"/>
            <a:ext cx="11247120" cy="384048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57200" y="6236208"/>
            <a:ext cx="54864" cy="384048"/>
          </a:xfrm>
          <a:prstGeom prst="rect">
            <a:avLst/>
          </a:prstGeom>
          <a:solidFill>
            <a:srgbClr val="6C6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0080" y="630021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6A64"/>
                </a:solidFill>
              </a:rPr>
              <a:t>e323228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691640" y="6300216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3"/>
                </a:solidFill>
              </a:rPr>
              <a:t>Initialize AISEC pipeline scaffold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15600" y="630021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C6A64"/>
                </a:solidFill>
              </a:rPr>
              <a:t>2025-03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14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E6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트러블슈팅 — 기술적 난제와 해결 과정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669280" cy="2423160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669280" cy="54864"/>
          </a:xfrm>
          <a:prstGeom prst="rect">
            <a:avLst/>
          </a:prstGeom>
          <a:solidFill>
            <a:srgbClr val="C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64545"/>
                </a:solidFill>
              </a:rPr>
              <a:t>① WSL2 환경 npm 충돌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1907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64545"/>
                </a:solidFill>
              </a:rPr>
              <a:t>🔴 문제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719072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41413"/>
                </a:solidFill>
              </a:rPr>
              <a:t>Windows용 npm이 PATH 우선순위를 가져 UNC 경로 오류
(\\wsl.localhost\... 경로를 처리 못함)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14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A45"/>
                </a:solidFill>
              </a:rPr>
              <a:t>✅ 해결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514600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41413"/>
                </a:solidFill>
              </a:rPr>
              <a:t>nvm으로 Linux용 Node.js 20 LTS 별도 설치
Windows node_modules 삭제 후 Linux npm으로 재설치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188720"/>
            <a:ext cx="5669280" cy="2423160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188720"/>
            <a:ext cx="5669280" cy="54864"/>
          </a:xfrm>
          <a:prstGeom prst="rect">
            <a:avLst/>
          </a:prstGeom>
          <a:solidFill>
            <a:srgbClr val="E8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2801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A55A"/>
                </a:solidFill>
              </a:rPr>
              <a:t>② Evidence Grounding 과도한 Reject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71907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64545"/>
                </a:solidFill>
              </a:rPr>
              <a:t>🔴 문제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1719072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41413"/>
                </a:solidFill>
              </a:rPr>
              <a:t>Claude가 '...'로 코드 일부 생략하거나 공백 다르게 출력
→ 단순 substring 매칭으로 실제 존재하는 증거도 reject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514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A45"/>
                </a:solidFill>
              </a:rPr>
              <a:t>✅ 해결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2514600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41413"/>
                </a:solidFill>
              </a:rPr>
              <a:t>ellipsis 기준 fragment 분리 + 12자 sliding window 알고리즘으로 교체
→ 정상 증거 reject 대폭 감소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40480"/>
            <a:ext cx="5669280" cy="2423160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840480"/>
            <a:ext cx="566928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9319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017"/>
                </a:solidFill>
              </a:rPr>
              <a:t>③ Exploitability 기준 모호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37083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64545"/>
                </a:solidFill>
              </a:rPr>
              <a:t>🔴 문제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370832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41413"/>
                </a:solidFill>
              </a:rPr>
              <a:t>evidence에 코드가 있어도 실제 exploit 가능 여부 판단 없음
→ 이론적 취약점도 Accepted 처리됨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1663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A45"/>
                </a:solidFill>
              </a:rPr>
              <a:t>✅ 해결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166360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41413"/>
                </a:solidFill>
              </a:rPr>
              <a:t>severity별 confidence 임계값 + dangerous op 필수 체크 도입
HIGH/CRITICAL은 gets/strcpy/memcpy 등 실제 위험 함수 증거 필수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840480"/>
            <a:ext cx="5669280" cy="2423160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3840480"/>
            <a:ext cx="5669280" cy="54864"/>
          </a:xfrm>
          <a:prstGeom prst="rect">
            <a:avLst/>
          </a:prstGeom>
          <a:solidFill>
            <a:srgbClr val="5D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39319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DB8A6"/>
                </a:solidFill>
              </a:rPr>
              <a:t>④ uvicorn --reload 미적용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37083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64545"/>
                </a:solidFill>
              </a:rPr>
              <a:t>🔴 문제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4370832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41413"/>
                </a:solidFill>
              </a:rPr>
              <a:t>코드 변경 후 API 응답이 이전 코드 기준으로 동작
→ --reload 없이 실행 중이었음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51663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A45"/>
                </a:solidFill>
              </a:rPr>
              <a:t>✅ 해결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5166360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41413"/>
                </a:solidFill>
              </a:rPr>
              <a:t>--reload 옵션 추가 후 재시작
StatReload가 소스 변경 자동 감지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14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E6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최종 데모까지의 계획 — 5월 30일 Demo 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47120" cy="685800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64008" cy="685800"/>
          </a:xfrm>
          <a:prstGeom prst="rect">
            <a:avLst/>
          </a:prstGeom>
          <a:solidFill>
            <a:srgbClr val="1A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9903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A45"/>
                </a:solidFill>
              </a:rPr>
              <a:t>5월 12일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128016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1413"/>
                </a:solidFill>
              </a:rPr>
              <a:t>중간 발표 자료 제출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241280" y="1417320"/>
            <a:ext cx="1280160" cy="320040"/>
          </a:xfrm>
          <a:prstGeom prst="rect">
            <a:avLst/>
          </a:prstGeom>
          <a:solidFill>
            <a:srgbClr val="1A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0" y="14173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완료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93392"/>
            <a:ext cx="11247120" cy="6858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993392"/>
            <a:ext cx="64008" cy="685800"/>
          </a:xfrm>
          <a:prstGeom prst="rect">
            <a:avLst/>
          </a:prstGeom>
          <a:solidFill>
            <a:srgbClr val="014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15798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14029"/>
                </a:solidFill>
              </a:rPr>
              <a:t>5월 13·18일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203911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1413"/>
                </a:solidFill>
              </a:rPr>
              <a:t>중간 발표 진행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41280" y="2176272"/>
            <a:ext cx="1280160" cy="320040"/>
          </a:xfrm>
          <a:prstGeom prst="rect">
            <a:avLst/>
          </a:prstGeom>
          <a:solidFill>
            <a:srgbClr val="014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0" y="217627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예정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752344"/>
            <a:ext cx="11247120" cy="685800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752344"/>
            <a:ext cx="64008" cy="685800"/>
          </a:xfrm>
          <a:prstGeom prst="rect">
            <a:avLst/>
          </a:prstGeom>
          <a:solidFill>
            <a:srgbClr val="6C6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91693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6A64"/>
                </a:solidFill>
              </a:rPr>
              <a:t>5월 20일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2798063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1413"/>
                </a:solidFill>
              </a:rPr>
              <a:t>휴강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241280" y="2935224"/>
            <a:ext cx="1280160" cy="320040"/>
          </a:xfrm>
          <a:prstGeom prst="rect">
            <a:avLst/>
          </a:prstGeom>
          <a:solidFill>
            <a:srgbClr val="6C6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0" y="293522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-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511296"/>
            <a:ext cx="11247120" cy="6858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511296"/>
            <a:ext cx="64008" cy="685800"/>
          </a:xfrm>
          <a:prstGeom prst="rect">
            <a:avLst/>
          </a:prstGeom>
          <a:solidFill>
            <a:srgbClr val="E8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675887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55A"/>
                </a:solidFill>
              </a:rPr>
              <a:t>5월 21~25일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3557015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1413"/>
                </a:solidFill>
              </a:rPr>
              <a:t>CVE 케이스셋 정량 평가
Precision / Recall / F1 측정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241280" y="3694176"/>
            <a:ext cx="1280160" cy="320040"/>
          </a:xfrm>
          <a:prstGeom prst="rect">
            <a:avLst/>
          </a:prstGeom>
          <a:solidFill>
            <a:srgbClr val="E8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80" y="369417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진행 예정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270248"/>
            <a:ext cx="11247120" cy="685800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270248"/>
            <a:ext cx="64008" cy="685800"/>
          </a:xfrm>
          <a:prstGeom prst="rect">
            <a:avLst/>
          </a:prstGeom>
          <a:solidFill>
            <a:srgbClr val="E8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434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55A"/>
                </a:solidFill>
              </a:rPr>
              <a:t>5월 26~28일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23160" y="4315968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1413"/>
                </a:solidFill>
              </a:rPr>
              <a:t>실시간 로그 스트리밍 (SSE)
False Positive 분석 및 보정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241280" y="4453128"/>
            <a:ext cx="1280160" cy="320040"/>
          </a:xfrm>
          <a:prstGeom prst="rect">
            <a:avLst/>
          </a:prstGeom>
          <a:solidFill>
            <a:srgbClr val="E8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41280" y="44531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진행 예정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029200"/>
            <a:ext cx="11247120" cy="6858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5029200"/>
            <a:ext cx="64008" cy="6858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19379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017"/>
                </a:solidFill>
              </a:rPr>
              <a:t>5월 29일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23160" y="507492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1413"/>
                </a:solidFill>
              </a:rPr>
              <a:t>최종 시연 리허설 및 버그 수정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241280" y="5212080"/>
            <a:ext cx="1280160" cy="3200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41280" y="52120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진행 예정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788152"/>
            <a:ext cx="11247120" cy="685800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5788152"/>
            <a:ext cx="64008" cy="685800"/>
          </a:xfrm>
          <a:prstGeom prst="rect">
            <a:avLst/>
          </a:prstGeom>
          <a:solidFill>
            <a:srgbClr val="C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595274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64545"/>
                </a:solidFill>
              </a:rPr>
              <a:t>5월 30일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23160" y="583387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1413"/>
                </a:solidFill>
              </a:rPr>
              <a:t>최종 발표회 (Demo Day)
13:00 ~ 16:00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241280" y="5971032"/>
            <a:ext cx="1280160" cy="320040"/>
          </a:xfrm>
          <a:prstGeom prst="rect">
            <a:avLst/>
          </a:prstGeom>
          <a:solidFill>
            <a:srgbClr val="C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241280" y="597103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solidFill>
            <a:srgbClr val="014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646480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핵심 남은 과제:  CVE 정량 평가  ·  SSE 실시간 스트리밍  ·  False Positive 보정  ·  Demo 리허설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14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</a:rPr>
              <a:t>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0D8C0"/>
                </a:solidFill>
              </a:rPr>
              <a:t>Reporter — AI 기반 C/C++ 취약점 분석 플랫폼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3749039"/>
            <a:ext cx="2651760" cy="1645920"/>
          </a:xfrm>
          <a:prstGeom prst="rect">
            <a:avLst/>
          </a:prstGeom>
          <a:solidFill>
            <a:srgbClr val="02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48840" y="3840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43891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D8C0"/>
                </a:solidFill>
              </a:rPr>
              <a:t>Claude AI 멀티 에이전트
파이프라인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3749039"/>
            <a:ext cx="2651760" cy="1645920"/>
          </a:xfrm>
          <a:prstGeom prst="rect">
            <a:avLst/>
          </a:prstGeom>
          <a:solidFill>
            <a:srgbClr val="02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3840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43891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D8C0"/>
                </a:solidFill>
              </a:rPr>
              <a:t>증거 기반 검증
Exploitability Policy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3749039"/>
            <a:ext cx="2651760" cy="1645920"/>
          </a:xfrm>
          <a:prstGeom prst="rect">
            <a:avLst/>
          </a:prstGeom>
          <a:solidFill>
            <a:srgbClr val="02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3840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43891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D8C0"/>
                </a:solidFill>
              </a:rPr>
              <a:t>자동 PDF 리포트
웹 UI 통합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D8C0"/>
                </a:solidFill>
              </a:rPr>
              <a:t>github.com/rohkyoungmin/AISECApp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